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51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embeddedFontLst>
    <p:embeddedFont>
      <p:font typeface="Aptos Narrow" panose="020B0004020202020204" pitchFamily="34" charset="0"/>
      <p:regular r:id="rId11"/>
      <p:bold r:id="rId12"/>
    </p:embeddedFont>
    <p:embeddedFont>
      <p:font typeface="Barlow Bold" panose="020B0604020202020204" charset="0"/>
      <p:regular r:id="rId13"/>
    </p:embeddedFont>
    <p:embeddedFont>
      <p:font typeface="Consolas" panose="020B0609020204030204" pitchFamily="49" charset="0"/>
      <p:regular r:id="rId14"/>
      <p:bold r:id="rId15"/>
      <p:italic r:id="rId16"/>
      <p:boldItalic r:id="rId17"/>
    </p:embeddedFont>
    <p:embeddedFont>
      <p:font typeface="Montserrat" panose="00000500000000000000" pitchFamily="2" charset="0"/>
      <p:regular r:id="rId18"/>
      <p:bold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210" d="100"/>
          <a:sy n="210" d="100"/>
        </p:scale>
        <p:origin x="2922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23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19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421866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E164589-96CD-D19A-FE70-CEA2745DF9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A452EA39-71DC-1C38-933F-A74D5542BE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  <a:endParaRPr lang="en-US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E4DD6C5-E729-11DE-FA5F-025BBEC89A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08F17-7FC8-4D82-81A8-6DEFB1D8D6D9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DB46C90-BA7F-0A53-1161-F5F6549404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75C04DC-48BC-2379-A238-6CA089DA06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5023-8032-425B-91DD-1E677C8E56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5568611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0FC690E-BD21-A8A0-F3FE-D4F1670EBC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6BB9584-208B-90BC-1D83-1F73058A9C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2ABE7BA-C083-D7A8-E610-03E138171C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08F17-7FC8-4D82-81A8-6DEFB1D8D6D9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8D34A50-1286-8D6F-6856-96187FDF61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C59A123-02C4-FF9E-1D78-010E5745F7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5023-8032-425B-91DD-1E677C8E56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2093628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93DCB90-6550-C5C9-ED2B-B6F1F1AE15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0BD3FE8-E4B7-C56F-D012-48692DC99F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BE797EE-972F-5B84-E053-D88CF590E3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08F17-7FC8-4D82-81A8-6DEFB1D8D6D9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EEFC085-1F99-4F45-00B5-05479A2808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DD8A5E7-024F-149B-0035-C9AD372FF1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5023-8032-425B-91DD-1E677C8E56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2685294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3E9B744-7C25-BECD-91AB-8208058651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C4A47DF-D32D-A3E4-5E0A-46E9AA02A3D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F372E2BB-A44B-B494-AC11-D6F9EC7E23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49D7591C-1DAC-50D8-4016-D34605762D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08F17-7FC8-4D82-81A8-6DEFB1D8D6D9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C9D43631-E1B8-EE74-DD01-E59E4AB1FD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7881EBE-BE87-3739-B0EF-A1BC66A687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5023-8032-425B-91DD-1E677C8E56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1295528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DFC99DE-860A-693A-471D-8468FAF1D9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BEAF5C5-1F6E-7D56-8267-E3BDADE8FB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AE0E89DD-74C5-5EE8-C6A6-0D23D6964C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18D63E8A-02FD-0B2D-521B-55A66AE8F2C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AEF5C0D4-289D-3B50-97EE-135A4AC0AF1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D6CB46B6-79FC-D389-089F-E8B074686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08F17-7FC8-4D82-81A8-6DEFB1D8D6D9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A9FCF9B7-94D4-E0A6-7B94-9F4E0F5740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1E3F3D2A-D439-DF86-4975-339E5AB2D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5023-8032-425B-91DD-1E677C8E56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8746271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4EFEFCC-1906-9FEB-262C-D06C5C4B50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CBFA6593-EC6D-2E94-E65A-4505D68703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08F17-7FC8-4D82-81A8-6DEFB1D8D6D9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0A226107-9FDB-E913-AF90-3479F4F2FC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7E805B44-3CC7-BF4E-6D45-59E5133593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5023-8032-425B-91DD-1E677C8E56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4248861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6F439E58-F0AA-3C1F-A968-AD455D8237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08F17-7FC8-4D82-81A8-6DEFB1D8D6D9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B5F1F7EF-D916-0FFD-42DA-4FD5B908CE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935843DD-B63C-7BDB-DE20-8EA47C786D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5023-8032-425B-91DD-1E677C8E56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6319458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232049F-B19E-16DB-1F28-BC43163D7F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BF5F9E8-594E-73AD-4244-557B64B38F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0F846A0D-B1E5-FA87-37B9-62634F66C9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51F97D2-15A5-1990-16E7-C2183CC861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08F17-7FC8-4D82-81A8-6DEFB1D8D6D9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AD91C94-190F-261D-885F-C153F00757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E5C7413-4EEF-323E-B886-3CE982BCD3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5023-8032-425B-91DD-1E677C8E56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4886481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241B7B6-4CE5-4F81-9957-21A34868D2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C25914FB-66E8-31A0-BAD5-15471399DFA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B413525D-8044-92DD-A309-AC8CCF72A8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484AB5F3-BC00-FEC4-1080-F6F966D45A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08F17-7FC8-4D82-81A8-6DEFB1D8D6D9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5FBBE4CB-1312-5C5D-4CE5-0044D5C8FF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4048273-73C8-F225-61F2-014140FFD1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5023-8032-425B-91DD-1E677C8E56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6128667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00FC1E3-6E6E-3AB6-06DD-C7713DADB9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7F5F780C-F506-D480-03E0-777FC86933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82440F4-798E-2E35-5B65-F1F517C2B4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08F17-7FC8-4D82-81A8-6DEFB1D8D6D9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6C37257-9609-8EED-14BC-45E980A44C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2DF5D22-B41F-2BDD-BEA1-D442AF815F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5023-8032-425B-91DD-1E677C8E56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7222147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B947A0B0-C929-9CB7-024B-A896F36EBDA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3FC2AD61-C3BB-9545-96D9-BA803BAA7F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5E17338-5569-4F22-6E7D-3B98E8C0DE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08F17-7FC8-4D82-81A8-6DEFB1D8D6D9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E3BC24D-45FC-D4CF-FC72-B29F45FFDB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89E24D6-E5EA-2195-EA4A-EC82B77AC6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5023-8032-425B-91DD-1E677C8E56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7839563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577756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387B395-0E39-5DB3-2F79-6E13E8D52E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71AA41E-50AB-3D7B-D786-C759A14CDF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CF2EEBE-31B1-8EA6-2EE2-A7D426580E5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2308F17-7FC8-4D82-81A8-6DEFB1D8D6D9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F72B8AB-5355-4E76-C424-9A4A4DD1230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BC5513D-5355-A3E7-964E-BE98FA6CE5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E275023-8032-425B-91DD-1E677C8E56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74770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  <p:sldLayoutId id="2147483663" r:id="rId12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0.png"/><Relationship Id="rId4" Type="http://schemas.openxmlformats.org/officeDocument/2006/relationships/hyperlink" Target="https://www.youtube.com/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2.png"/><Relationship Id="rId4" Type="http://schemas.openxmlformats.org/officeDocument/2006/relationships/hyperlink" Target="https://github.com/AleksandraTrunova/cep146-git-practice-game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43550" y="0"/>
            <a:ext cx="3600450" cy="5143500"/>
          </a:xfrm>
          <a:prstGeom prst="rect">
            <a:avLst/>
          </a:prstGeom>
          <a:solidFill>
            <a:srgbClr val="D4E9F7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1430" y="595536"/>
            <a:ext cx="2634853" cy="395235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3943" y="1542455"/>
            <a:ext cx="4767114" cy="9004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00" b="1" dirty="0">
                <a:solidFill>
                  <a:srgbClr val="384653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git init git-interactive-game_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473943" y="2645941"/>
            <a:ext cx="5224314" cy="2166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Gamified, Localized Engine for Mastering Git &amp; CLI Workflows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473943" y="3014960"/>
            <a:ext cx="3075459" cy="254422"/>
          </a:xfrm>
          <a:prstGeom prst="roundRect">
            <a:avLst>
              <a:gd name="adj" fmla="val 63869"/>
            </a:avLst>
          </a:prstGeom>
          <a:solidFill>
            <a:srgbClr val="D4E9F7"/>
          </a:solidFill>
          <a:ln/>
        </p:spPr>
      </p:sp>
      <p:sp>
        <p:nvSpPr>
          <p:cNvPr id="7" name="Text 4"/>
          <p:cNvSpPr/>
          <p:nvPr/>
        </p:nvSpPr>
        <p:spPr>
          <a:xfrm>
            <a:off x="555129" y="3055516"/>
            <a:ext cx="3370287" cy="1733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CEP146 — ESSENTIAL TOOLING FOR PROGRAMMERS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473943" y="3337024"/>
            <a:ext cx="4242346" cy="263947"/>
          </a:xfrm>
          <a:prstGeom prst="roundRect">
            <a:avLst>
              <a:gd name="adj" fmla="val 61564"/>
            </a:avLst>
          </a:prstGeom>
          <a:noFill/>
          <a:ln w="4763">
            <a:solidFill>
              <a:srgbClr val="75BAE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59891" y="3382342"/>
            <a:ext cx="4527649" cy="1733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75BA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ALEKSANDRA TRUNOVA &amp; GABRIEL BRITO PINTO · SENECA POLYTECHNIC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3943" y="768251"/>
            <a:ext cx="4646935" cy="4454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The Command Line Barrier</a:t>
            </a:r>
            <a:endParaRPr lang="en-US" sz="28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4893" y="1692846"/>
            <a:ext cx="1666056" cy="240632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85502" y="1847255"/>
            <a:ext cx="1281038" cy="4452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The "Black Box" Problem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685502" y="2427908"/>
            <a:ext cx="1281038" cy="15168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Beginners type abstract syntax into a plain terminal with no visibility into real-time folder structure changes.</a:t>
            </a:r>
            <a:endParaRPr lang="en-US" sz="10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237259" y="1692846"/>
            <a:ext cx="1666056" cy="240632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2467868" y="1847255"/>
            <a:ext cx="1281038" cy="4452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High Friction Curve</a:t>
            </a: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2467868" y="2427908"/>
            <a:ext cx="1281038" cy="1300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Misplaced spaces or forgotten flags like </a:t>
            </a:r>
            <a:r>
              <a:rPr lang="en-US" sz="1050" dirty="0">
                <a:solidFill>
                  <a:srgbClr val="384653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-m</a:t>
            </a:r>
            <a:r>
              <a:rPr lang="en-US" sz="10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or </a:t>
            </a:r>
            <a:r>
              <a:rPr lang="en-US" sz="1050" dirty="0">
                <a:solidFill>
                  <a:srgbClr val="384653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--global</a:t>
            </a:r>
            <a:r>
              <a:rPr lang="en-US" sz="10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trigger cryptic error traces that stall momentum.</a:t>
            </a:r>
            <a:endParaRPr lang="en-US" sz="10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019624" y="1692846"/>
            <a:ext cx="1666131" cy="240632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250234" y="1847255"/>
            <a:ext cx="1281113" cy="4452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Disconnected Resources</a:t>
            </a:r>
            <a:endParaRPr lang="en-US" sz="1400" dirty="0"/>
          </a:p>
        </p:txBody>
      </p:sp>
      <p:sp>
        <p:nvSpPr>
          <p:cNvPr id="11" name="Text 6"/>
          <p:cNvSpPr/>
          <p:nvPr/>
        </p:nvSpPr>
        <p:spPr>
          <a:xfrm>
            <a:off x="4250234" y="2427908"/>
            <a:ext cx="1281113" cy="1300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Students constantly context-switch to external docs for simple reference guides.</a:t>
            </a:r>
            <a:endParaRPr lang="en-US" sz="10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20916" y="1569095"/>
            <a:ext cx="2653829" cy="265382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3943" y="1074316"/>
            <a:ext cx="6385992" cy="4454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Introducing the Git Interactive Trainer</a:t>
            </a:r>
            <a:endParaRPr lang="en-US" sz="28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943" y="1790551"/>
            <a:ext cx="1519089" cy="9388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3943" y="2898577"/>
            <a:ext cx="1781696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Interactive Loop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473943" y="3202409"/>
            <a:ext cx="2619226" cy="866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50" b="1" dirty="0">
                <a:solidFill>
                  <a:srgbClr val="384653"/>
                </a:solidFill>
                <a:latin typeface="Aptos Narrow" panose="020B0004020202020204" pitchFamily="34" charset="0"/>
                <a:ea typeface="Montserrat" pitchFamily="34" charset="-122"/>
                <a:cs typeface="Montserrat" pitchFamily="34" charset="-120"/>
              </a:rPr>
              <a:t>Simulated Web Terminal</a:t>
            </a:r>
            <a:endParaRPr lang="en-US" sz="1050" dirty="0">
              <a:latin typeface="Aptos Narrow" panose="020B0004020202020204" pitchFamily="34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0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localized sandboxed browser terminal that intercepts inputs and validates strings instantly.</a:t>
            </a:r>
            <a:endParaRPr lang="en-US" sz="10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62387" y="1790551"/>
            <a:ext cx="1519089" cy="93880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262387" y="2898577"/>
            <a:ext cx="1781696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Mental Mapping</a:t>
            </a: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3262387" y="3202409"/>
            <a:ext cx="2619226" cy="866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50" b="1" dirty="0">
                <a:solidFill>
                  <a:srgbClr val="384653"/>
                </a:solidFill>
                <a:latin typeface="Aptos Narrow" panose="020B0004020202020204" pitchFamily="34" charset="0"/>
                <a:ea typeface="Montserrat" pitchFamily="34" charset="-122"/>
                <a:cs typeface="Montserrat" pitchFamily="34" charset="-120"/>
              </a:rPr>
              <a:t>Real-Time Visual Feedback</a:t>
            </a:r>
            <a:endParaRPr lang="en-US" sz="1050" dirty="0">
              <a:latin typeface="Aptos Narrow" panose="020B0004020202020204" pitchFamily="34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0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Executing commands instantly renders interactive tree structures, directories, and branch lines.</a:t>
            </a:r>
            <a:endParaRPr lang="en-US" sz="10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50831" y="1790551"/>
            <a:ext cx="1519089" cy="93880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050831" y="2898577"/>
            <a:ext cx="1781696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Scannability</a:t>
            </a:r>
            <a:endParaRPr lang="en-US" sz="1400" dirty="0"/>
          </a:p>
        </p:txBody>
      </p:sp>
      <p:sp>
        <p:nvSpPr>
          <p:cNvPr id="11" name="Text 6"/>
          <p:cNvSpPr/>
          <p:nvPr/>
        </p:nvSpPr>
        <p:spPr>
          <a:xfrm>
            <a:off x="6050831" y="3202409"/>
            <a:ext cx="2619226" cy="866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50" b="1" dirty="0">
                <a:solidFill>
                  <a:srgbClr val="384653"/>
                </a:solidFill>
                <a:latin typeface="Aptos Narrow" panose="020B0004020202020204" pitchFamily="34" charset="0"/>
                <a:ea typeface="Montserrat" pitchFamily="34" charset="-122"/>
                <a:cs typeface="Montserrat" pitchFamily="34" charset="-120"/>
              </a:rPr>
              <a:t>All-In-One Workspace</a:t>
            </a:r>
            <a:endParaRPr lang="en-US" sz="1050" dirty="0">
              <a:latin typeface="Aptos Narrow" panose="020B0004020202020204" pitchFamily="34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0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Integrates step-by-step level menus and dynamic cheat-sheet modules side-by-side on a single page.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3207" y="413965"/>
            <a:ext cx="4974506" cy="3549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Under the Hood: Data-Driven Design</a:t>
            </a:r>
            <a:endParaRPr lang="en-US" sz="22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2289" y="940891"/>
            <a:ext cx="7039273" cy="254823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69020" y="2861224"/>
            <a:ext cx="2115358" cy="232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Interactive User Interface</a:t>
            </a:r>
            <a:endParaRPr lang="en-US" sz="1450" dirty="0"/>
          </a:p>
        </p:txBody>
      </p:sp>
      <p:sp>
        <p:nvSpPr>
          <p:cNvPr id="5" name="Text 2"/>
          <p:cNvSpPr/>
          <p:nvPr/>
        </p:nvSpPr>
        <p:spPr>
          <a:xfrm>
            <a:off x="1569020" y="2093161"/>
            <a:ext cx="1856112" cy="232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Validation Engine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1569020" y="1317261"/>
            <a:ext cx="1856112" cy="232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JSON Dataset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653207" y="3585790"/>
            <a:ext cx="8294712" cy="155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architecture flows from structured data through validation logic to immediate UI response with no external APIs, no server round-trips.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653207" y="3923481"/>
            <a:ext cx="1877020" cy="1774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The JSON Dataset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53207" y="4186907"/>
            <a:ext cx="3787080" cy="3101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Levels, objectives, expected strings, and terminal tips are parsed dynamically from a structured JSON tree.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4708327" y="3923481"/>
            <a:ext cx="2562002" cy="1774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Input Sanitization &amp; State Binding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4708327" y="4186907"/>
            <a:ext cx="3787080" cy="4652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engine trims, sanitizes, and matches user text against level requirements. Valid matches advance </a:t>
            </a:r>
            <a:r>
              <a:rPr lang="en-US" sz="800" dirty="0">
                <a:solidFill>
                  <a:srgbClr val="384653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levelId</a:t>
            </a:r>
            <a:r>
              <a:rPr lang="en-US" sz="8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and update visuals automatically.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3943" y="967011"/>
            <a:ext cx="4955828" cy="4454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Structured Progression Path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73943" y="1683246"/>
            <a:ext cx="8653314" cy="2166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Four levels scaffold complexity from environment setup to distributed collaboration.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473943" y="3114377"/>
            <a:ext cx="8196114" cy="19050"/>
          </a:xfrm>
          <a:prstGeom prst="roundRect">
            <a:avLst>
              <a:gd name="adj" fmla="val 1066251"/>
            </a:avLst>
          </a:prstGeom>
          <a:solidFill>
            <a:srgbClr val="BACFDD"/>
          </a:solidFill>
          <a:ln/>
        </p:spPr>
      </p:sp>
      <p:sp>
        <p:nvSpPr>
          <p:cNvPr id="5" name="Shape 3"/>
          <p:cNvSpPr/>
          <p:nvPr/>
        </p:nvSpPr>
        <p:spPr>
          <a:xfrm>
            <a:off x="2052861" y="2708151"/>
            <a:ext cx="19050" cy="406226"/>
          </a:xfrm>
          <a:prstGeom prst="roundRect">
            <a:avLst>
              <a:gd name="adj" fmla="val 1066251"/>
            </a:avLst>
          </a:prstGeom>
          <a:solidFill>
            <a:srgbClr val="BACFDD"/>
          </a:solidFill>
          <a:ln/>
        </p:spPr>
      </p:sp>
      <p:sp>
        <p:nvSpPr>
          <p:cNvPr id="6" name="Shape 4"/>
          <p:cNvSpPr/>
          <p:nvPr/>
        </p:nvSpPr>
        <p:spPr>
          <a:xfrm>
            <a:off x="1910060" y="2962052"/>
            <a:ext cx="304651" cy="304651"/>
          </a:xfrm>
          <a:prstGeom prst="roundRect">
            <a:avLst>
              <a:gd name="adj" fmla="val 66673"/>
            </a:avLst>
          </a:prstGeom>
          <a:solidFill>
            <a:srgbClr val="D4E9F7"/>
          </a:solidFill>
          <a:ln w="4763">
            <a:solidFill>
              <a:srgbClr val="BACFD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955490" y="2980767"/>
            <a:ext cx="213792" cy="2672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1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1028030" y="2052265"/>
            <a:ext cx="2068711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Level 1 · Base Environment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09302" y="2356098"/>
            <a:ext cx="2906167" cy="2166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050" dirty="0">
                <a:solidFill>
                  <a:srgbClr val="384653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pwd</a:t>
            </a:r>
            <a:r>
              <a:rPr lang="en-US" sz="10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· </a:t>
            </a:r>
            <a:r>
              <a:rPr lang="en-US" sz="1050" dirty="0">
                <a:solidFill>
                  <a:srgbClr val="384653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mkdir</a:t>
            </a:r>
            <a:r>
              <a:rPr lang="en-US" sz="10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· </a:t>
            </a:r>
            <a:r>
              <a:rPr lang="en-US" sz="1050" dirty="0">
                <a:solidFill>
                  <a:srgbClr val="384653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cd</a:t>
            </a:r>
            <a:r>
              <a:rPr lang="en-US" sz="10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· </a:t>
            </a:r>
            <a:r>
              <a:rPr lang="en-US" sz="1050" dirty="0">
                <a:solidFill>
                  <a:srgbClr val="384653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git config</a:t>
            </a:r>
            <a:r>
              <a:rPr lang="en-US" sz="10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· </a:t>
            </a:r>
            <a:r>
              <a:rPr lang="en-US" sz="1050" dirty="0">
                <a:solidFill>
                  <a:srgbClr val="384653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git init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725912" y="3114377"/>
            <a:ext cx="19050" cy="406226"/>
          </a:xfrm>
          <a:prstGeom prst="roundRect">
            <a:avLst>
              <a:gd name="adj" fmla="val 1066251"/>
            </a:avLst>
          </a:prstGeom>
          <a:solidFill>
            <a:srgbClr val="BACFDD"/>
          </a:solidFill>
          <a:ln/>
        </p:spPr>
      </p:sp>
      <p:sp>
        <p:nvSpPr>
          <p:cNvPr id="11" name="Shape 9"/>
          <p:cNvSpPr/>
          <p:nvPr/>
        </p:nvSpPr>
        <p:spPr>
          <a:xfrm>
            <a:off x="3583112" y="2962052"/>
            <a:ext cx="304651" cy="304651"/>
          </a:xfrm>
          <a:prstGeom prst="roundRect">
            <a:avLst>
              <a:gd name="adj" fmla="val 66673"/>
            </a:avLst>
          </a:prstGeom>
          <a:solidFill>
            <a:srgbClr val="D4E9F7"/>
          </a:solidFill>
          <a:ln w="4763">
            <a:solidFill>
              <a:srgbClr val="BACFD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28541" y="2980767"/>
            <a:ext cx="213792" cy="2672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2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2713806" y="3655963"/>
            <a:ext cx="2043187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Level 2 · The Core Pipeline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282354" y="3959796"/>
            <a:ext cx="2906167" cy="2166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050" dirty="0">
                <a:solidFill>
                  <a:srgbClr val="384653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touch</a:t>
            </a:r>
            <a:r>
              <a:rPr lang="en-US" sz="10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· </a:t>
            </a:r>
            <a:r>
              <a:rPr lang="en-US" sz="1050" dirty="0">
                <a:solidFill>
                  <a:srgbClr val="384653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status</a:t>
            </a:r>
            <a:r>
              <a:rPr lang="en-US" sz="10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· </a:t>
            </a:r>
            <a:r>
              <a:rPr lang="en-US" sz="1050" dirty="0">
                <a:solidFill>
                  <a:srgbClr val="384653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diff</a:t>
            </a:r>
            <a:r>
              <a:rPr lang="en-US" sz="10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· </a:t>
            </a:r>
            <a:r>
              <a:rPr lang="en-US" sz="1050" dirty="0">
                <a:solidFill>
                  <a:srgbClr val="384653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add</a:t>
            </a:r>
            <a:r>
              <a:rPr lang="en-US" sz="10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· </a:t>
            </a:r>
            <a:r>
              <a:rPr lang="en-US" sz="1050" dirty="0">
                <a:solidFill>
                  <a:srgbClr val="384653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commit</a:t>
            </a:r>
            <a:r>
              <a:rPr lang="en-US" sz="10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· </a:t>
            </a:r>
            <a:r>
              <a:rPr lang="en-US" sz="1050" dirty="0">
                <a:solidFill>
                  <a:srgbClr val="384653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log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398963" y="2708151"/>
            <a:ext cx="19050" cy="406226"/>
          </a:xfrm>
          <a:prstGeom prst="roundRect">
            <a:avLst>
              <a:gd name="adj" fmla="val 1066251"/>
            </a:avLst>
          </a:prstGeom>
          <a:solidFill>
            <a:srgbClr val="BACFDD"/>
          </a:solidFill>
          <a:ln/>
        </p:spPr>
      </p:sp>
      <p:sp>
        <p:nvSpPr>
          <p:cNvPr id="16" name="Shape 14"/>
          <p:cNvSpPr/>
          <p:nvPr/>
        </p:nvSpPr>
        <p:spPr>
          <a:xfrm>
            <a:off x="5256163" y="2962052"/>
            <a:ext cx="304651" cy="304651"/>
          </a:xfrm>
          <a:prstGeom prst="roundRect">
            <a:avLst>
              <a:gd name="adj" fmla="val 66673"/>
            </a:avLst>
          </a:prstGeom>
          <a:solidFill>
            <a:srgbClr val="D4E9F7"/>
          </a:solidFill>
          <a:ln w="4763">
            <a:solidFill>
              <a:srgbClr val="BACFD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01593" y="2980767"/>
            <a:ext cx="213792" cy="2672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3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4237137" y="2052265"/>
            <a:ext cx="2342704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Level 3 · Branching Workflows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955405" y="2356098"/>
            <a:ext cx="2906167" cy="2166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050" dirty="0">
                <a:solidFill>
                  <a:srgbClr val="384653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branch</a:t>
            </a:r>
            <a:r>
              <a:rPr lang="en-US" sz="10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· </a:t>
            </a:r>
            <a:r>
              <a:rPr lang="en-US" sz="1050" dirty="0">
                <a:solidFill>
                  <a:srgbClr val="384653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checkout</a:t>
            </a:r>
            <a:r>
              <a:rPr lang="en-US" sz="10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· </a:t>
            </a:r>
            <a:r>
              <a:rPr lang="en-US" sz="1050" dirty="0">
                <a:solidFill>
                  <a:srgbClr val="384653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switch</a:t>
            </a:r>
            <a:r>
              <a:rPr lang="en-US" sz="10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· </a:t>
            </a:r>
            <a:r>
              <a:rPr lang="en-US" sz="1050" dirty="0">
                <a:solidFill>
                  <a:srgbClr val="384653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merge</a:t>
            </a:r>
            <a:r>
              <a:rPr lang="en-US" sz="10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· </a:t>
            </a:r>
            <a:r>
              <a:rPr lang="en-US" sz="1050" dirty="0">
                <a:solidFill>
                  <a:srgbClr val="384653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--abort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072015" y="3114377"/>
            <a:ext cx="19050" cy="406226"/>
          </a:xfrm>
          <a:prstGeom prst="roundRect">
            <a:avLst>
              <a:gd name="adj" fmla="val 1066251"/>
            </a:avLst>
          </a:prstGeom>
          <a:solidFill>
            <a:srgbClr val="BACFDD"/>
          </a:solidFill>
          <a:ln/>
        </p:spPr>
      </p:sp>
      <p:sp>
        <p:nvSpPr>
          <p:cNvPr id="21" name="Shape 19"/>
          <p:cNvSpPr/>
          <p:nvPr/>
        </p:nvSpPr>
        <p:spPr>
          <a:xfrm>
            <a:off x="6929214" y="2962052"/>
            <a:ext cx="304651" cy="304651"/>
          </a:xfrm>
          <a:prstGeom prst="roundRect">
            <a:avLst>
              <a:gd name="adj" fmla="val 66673"/>
            </a:avLst>
          </a:prstGeom>
          <a:solidFill>
            <a:srgbClr val="D4E9F7"/>
          </a:solidFill>
          <a:ln w="4763">
            <a:solidFill>
              <a:srgbClr val="BACFD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974644" y="2980767"/>
            <a:ext cx="213792" cy="2672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4</a:t>
            </a:r>
            <a:endParaRPr lang="en-US" sz="1650" dirty="0"/>
          </a:p>
        </p:txBody>
      </p:sp>
      <p:sp>
        <p:nvSpPr>
          <p:cNvPr id="23" name="Text 21"/>
          <p:cNvSpPr/>
          <p:nvPr/>
        </p:nvSpPr>
        <p:spPr>
          <a:xfrm>
            <a:off x="5900142" y="3655963"/>
            <a:ext cx="2362795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Level 4 · The Cloud Ecosystem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628456" y="3959796"/>
            <a:ext cx="2906167" cy="2166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050" dirty="0">
                <a:solidFill>
                  <a:srgbClr val="384653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clone</a:t>
            </a:r>
            <a:r>
              <a:rPr lang="en-US" sz="10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· </a:t>
            </a:r>
            <a:r>
              <a:rPr lang="en-US" sz="1050" dirty="0">
                <a:solidFill>
                  <a:srgbClr val="384653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remote add</a:t>
            </a:r>
            <a:r>
              <a:rPr lang="en-US" sz="10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· </a:t>
            </a:r>
            <a:r>
              <a:rPr lang="en-US" sz="1050" dirty="0">
                <a:solidFill>
                  <a:srgbClr val="384653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push</a:t>
            </a:r>
            <a:r>
              <a:rPr lang="en-US" sz="10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· </a:t>
            </a:r>
            <a:r>
              <a:rPr lang="en-US" sz="1050" dirty="0">
                <a:solidFill>
                  <a:srgbClr val="384653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fetch</a:t>
            </a:r>
            <a:r>
              <a:rPr lang="en-US" sz="10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· </a:t>
            </a:r>
            <a:r>
              <a:rPr lang="en-US" sz="1050" dirty="0">
                <a:solidFill>
                  <a:srgbClr val="384653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pull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3943" y="1110481"/>
            <a:ext cx="4574902" cy="4454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Roles and Responsibilities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76386" y="1759000"/>
            <a:ext cx="4127971" cy="2274019"/>
          </a:xfrm>
          <a:prstGeom prst="roundRect">
            <a:avLst>
              <a:gd name="adj" fmla="val 14292"/>
            </a:avLst>
          </a:prstGeom>
          <a:solidFill>
            <a:srgbClr val="063E5F"/>
          </a:solidFill>
          <a:ln/>
        </p:spPr>
      </p:sp>
      <p:sp>
        <p:nvSpPr>
          <p:cNvPr id="4" name="Text 2"/>
          <p:cNvSpPr/>
          <p:nvPr/>
        </p:nvSpPr>
        <p:spPr>
          <a:xfrm>
            <a:off x="511746" y="1894359"/>
            <a:ext cx="2238896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Aleksandra Trunova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11746" y="2252365"/>
            <a:ext cx="4314453" cy="2166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ptos Narrow" panose="020B0004020202020204" pitchFamily="34" charset="0"/>
                <a:ea typeface="Montserrat" pitchFamily="34" charset="-122"/>
                <a:cs typeface="Montserrat" pitchFamily="34" charset="-120"/>
              </a:rPr>
              <a:t>Project Documentation &amp; Web Page Infrastructure</a:t>
            </a:r>
            <a:endParaRPr lang="en-US" sz="1050" dirty="0">
              <a:latin typeface="Aptos Narrow" panose="020B000402020202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511746" y="2590874"/>
            <a:ext cx="3857253" cy="11781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Designed the integrated UI layout using Tailwind CSS</a:t>
            </a:r>
            <a:endParaRPr lang="en-US" sz="105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Authored core reference technical schemas and scannable markdown documentation</a:t>
            </a:r>
            <a:endParaRPr lang="en-US" sz="105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Maintained repository environment configurations and deployment 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741962" y="1894359"/>
            <a:ext cx="2238896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Gabriel Brito Pinto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741962" y="2252365"/>
            <a:ext cx="4390058" cy="2166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50" b="1" dirty="0">
                <a:solidFill>
                  <a:srgbClr val="384653"/>
                </a:solidFill>
                <a:latin typeface="Aptos Narrow" panose="020B0004020202020204" pitchFamily="34" charset="0"/>
                <a:ea typeface="Montserrat" pitchFamily="34" charset="-122"/>
                <a:cs typeface="Montserrat" pitchFamily="34" charset="-120"/>
              </a:rPr>
              <a:t>Level Logic Systems &amp; Video Production</a:t>
            </a:r>
            <a:endParaRPr lang="en-US" sz="1050" dirty="0">
              <a:latin typeface="Aptos Narrow" panose="020B00040202020202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4741962" y="2590874"/>
            <a:ext cx="3932858" cy="13948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0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Engineered the core validation loops and logic for working with dataset</a:t>
            </a:r>
            <a:endParaRPr lang="en-US" sz="105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0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Mapped structural system rules to dynamic visual representation flags</a:t>
            </a:r>
            <a:endParaRPr lang="en-US" sz="105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0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Produced and polished the comprehensive project demonstration video guide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00450" cy="5143500"/>
          </a:xfrm>
          <a:prstGeom prst="rect">
            <a:avLst/>
          </a:prstGeom>
          <a:solidFill>
            <a:srgbClr val="D4E9F7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17" y="595536"/>
            <a:ext cx="2634853" cy="395235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902943" y="747192"/>
            <a:ext cx="4701778" cy="4454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Application Demonstration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3902943" y="1395710"/>
            <a:ext cx="4767114" cy="4333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Watch the live walkthrough covering terminal feedback loops, command filtering, and responsive layout scaling.</a:t>
            </a:r>
            <a:endParaRPr lang="en-US" sz="1050" dirty="0"/>
          </a:p>
        </p:txBody>
      </p:sp>
      <p:pic>
        <p:nvPicPr>
          <p:cNvPr id="6" name="Image 1" descr="preencoded.png">
            <a:hlinkClick r:id="rId4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02943" y="1981423"/>
            <a:ext cx="2793206" cy="372368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3902943" y="2506117"/>
            <a:ext cx="1498774" cy="1890192"/>
          </a:xfrm>
          <a:prstGeom prst="roundRect">
            <a:avLst>
              <a:gd name="adj" fmla="val 13552"/>
            </a:avLst>
          </a:prstGeom>
          <a:solidFill>
            <a:srgbClr val="D4E9F7"/>
          </a:solidFill>
          <a:ln w="4763">
            <a:solidFill>
              <a:srgbClr val="BACFDD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4043065" y="2646238"/>
            <a:ext cx="1218530" cy="4452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Terminal Feedback Loop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4043065" y="3172718"/>
            <a:ext cx="1218530" cy="866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Visual response on correct vs. incorrect command entries</a:t>
            </a:r>
            <a:endParaRPr lang="en-US" sz="1050" dirty="0"/>
          </a:p>
        </p:txBody>
      </p:sp>
      <p:sp>
        <p:nvSpPr>
          <p:cNvPr id="10" name="Shape 6"/>
          <p:cNvSpPr/>
          <p:nvPr/>
        </p:nvSpPr>
        <p:spPr>
          <a:xfrm>
            <a:off x="5537076" y="2506117"/>
            <a:ext cx="1498774" cy="1890192"/>
          </a:xfrm>
          <a:prstGeom prst="roundRect">
            <a:avLst>
              <a:gd name="adj" fmla="val 13552"/>
            </a:avLst>
          </a:prstGeom>
          <a:solidFill>
            <a:srgbClr val="D4E9F7"/>
          </a:solidFill>
          <a:ln w="4763">
            <a:solidFill>
              <a:srgbClr val="BACFDD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5677198" y="2646238"/>
            <a:ext cx="1218530" cy="4452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Dynamic Filtering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5677198" y="3172718"/>
            <a:ext cx="1218530" cy="1083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Real-time command parsing and interface operations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7171209" y="2506117"/>
            <a:ext cx="1498774" cy="1890192"/>
          </a:xfrm>
          <a:prstGeom prst="roundRect">
            <a:avLst>
              <a:gd name="adj" fmla="val 13552"/>
            </a:avLst>
          </a:prstGeom>
          <a:solidFill>
            <a:srgbClr val="D4E9F7"/>
          </a:solidFill>
          <a:ln w="4763">
            <a:solidFill>
              <a:srgbClr val="BACFDD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7311330" y="2646238"/>
            <a:ext cx="1218530" cy="4452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Responsive Framework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7311330" y="3172718"/>
            <a:ext cx="1218530" cy="650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Layout scaling seamlessly across all active views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00450" cy="5143500"/>
          </a:xfrm>
          <a:prstGeom prst="rect">
            <a:avLst/>
          </a:prstGeom>
          <a:solidFill>
            <a:srgbClr val="D4E9F7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17" y="595536"/>
            <a:ext cx="2634853" cy="395235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902943" y="510183"/>
            <a:ext cx="4767114" cy="12389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850" b="1" dirty="0">
                <a:solidFill>
                  <a:srgbClr val="384653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git checkout -b questions</a:t>
            </a:r>
            <a:endParaRPr lang="en-US" sz="3850" dirty="0"/>
          </a:p>
        </p:txBody>
      </p:sp>
      <p:sp>
        <p:nvSpPr>
          <p:cNvPr id="5" name="Text 2"/>
          <p:cNvSpPr/>
          <p:nvPr/>
        </p:nvSpPr>
        <p:spPr>
          <a:xfrm>
            <a:off x="3902943" y="1952253"/>
            <a:ext cx="5224314" cy="2166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Thank you for watching, we are open for questions.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3902943" y="2321272"/>
            <a:ext cx="2315840" cy="1262732"/>
          </a:xfrm>
          <a:prstGeom prst="roundRect">
            <a:avLst>
              <a:gd name="adj" fmla="val 16086"/>
            </a:avLst>
          </a:prstGeom>
          <a:solidFill>
            <a:srgbClr val="FFFFFF"/>
          </a:solidFill>
          <a:ln w="19050">
            <a:solidFill>
              <a:srgbClr val="BACFDD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057352" y="2475681"/>
            <a:ext cx="1781696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GitHub Repository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057352" y="2779514"/>
            <a:ext cx="2007022" cy="2166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50" u="sng" dirty="0">
                <a:solidFill>
                  <a:srgbClr val="359DD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github.com/cep-git-game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6354142" y="2321272"/>
            <a:ext cx="2315914" cy="1262732"/>
          </a:xfrm>
          <a:prstGeom prst="roundRect">
            <a:avLst>
              <a:gd name="adj" fmla="val 16086"/>
            </a:avLst>
          </a:prstGeom>
          <a:solidFill>
            <a:srgbClr val="FFFFFF"/>
          </a:solidFill>
          <a:ln w="19050">
            <a:solidFill>
              <a:srgbClr val="BACFD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508552" y="2475681"/>
            <a:ext cx="1781696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Live App Deployment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508552" y="2779514"/>
            <a:ext cx="2007096" cy="650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Hosted on GitHub Pages  accessible from any browser, no install required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3902943" y="3736330"/>
            <a:ext cx="4767114" cy="744587"/>
          </a:xfrm>
          <a:prstGeom prst="roundRect">
            <a:avLst>
              <a:gd name="adj" fmla="val 27280"/>
            </a:avLst>
          </a:prstGeom>
          <a:solidFill>
            <a:srgbClr val="B6D6FC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38302" y="3929881"/>
            <a:ext cx="169218" cy="135359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342879" y="3891930"/>
            <a:ext cx="4191819" cy="4333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CEP146 — </a:t>
            </a:r>
            <a:r>
              <a:rPr lang="en-US" sz="1050" b="1" dirty="0">
                <a:solidFill>
                  <a:srgbClr val="000000"/>
                </a:solidFill>
                <a:latin typeface="Aptos Narrow" panose="020B0004020202020204" pitchFamily="34" charset="0"/>
                <a:ea typeface="Montserrat" pitchFamily="34" charset="-122"/>
                <a:cs typeface="Montserrat" pitchFamily="34" charset="-120"/>
              </a:rPr>
              <a:t>Essential Tooling for Programmers</a:t>
            </a:r>
            <a:r>
              <a:rPr lang="en-US" sz="1050" dirty="0">
                <a:solidFill>
                  <a:srgbClr val="000000"/>
                </a:solidFill>
                <a:latin typeface="Aptos Narrow" panose="020B0004020202020204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0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· Aleksandra Trunova &amp; Gabriel Brito Pinto · Seneca Polytechnic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</TotalTime>
  <Words>500</Words>
  <Application>Microsoft Office PowerPoint</Application>
  <PresentationFormat>Экран (16:9)</PresentationFormat>
  <Paragraphs>78</Paragraphs>
  <Slides>8</Slides>
  <Notes>8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6" baseType="lpstr">
      <vt:lpstr>Aptos Narrow</vt:lpstr>
      <vt:lpstr>Arial</vt:lpstr>
      <vt:lpstr>Aptos Display</vt:lpstr>
      <vt:lpstr>Consolas</vt:lpstr>
      <vt:lpstr>Aptos</vt:lpstr>
      <vt:lpstr>Montserrat</vt:lpstr>
      <vt:lpstr>Barlow Bold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Александра Кучеренко</cp:lastModifiedBy>
  <cp:revision>2</cp:revision>
  <dcterms:created xsi:type="dcterms:W3CDTF">2026-06-17T17:54:56Z</dcterms:created>
  <dcterms:modified xsi:type="dcterms:W3CDTF">2026-06-17T17:57:35Z</dcterms:modified>
</cp:coreProperties>
</file>